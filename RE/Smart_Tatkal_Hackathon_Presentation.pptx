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32520" y="731520"/>
            <a:ext cx="2377440" cy="2377440"/>
          </a:xfrm>
          <a:prstGeom prst="ellipse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1920240"/>
            <a:ext cx="1508760" cy="1508760"/>
          </a:xfrm>
          <a:prstGeom prst="ellipse">
            <a:avLst/>
          </a:prstGeom>
          <a:solidFill>
            <a:srgbClr val="1B3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46720" y="2926080"/>
            <a:ext cx="914400" cy="914400"/>
          </a:xfrm>
          <a:prstGeom prst="ellipse">
            <a:avLst/>
          </a:prstGeom>
          <a:solidFill>
            <a:srgbClr val="144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6858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31D5D2"/>
                </a:solidFill>
                <a:latin typeface="Aptos"/>
              </a:defRPr>
            </a:pPr>
            <a:r>
              <a:t>WHYCODE.4U • HACKATHON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7498079" cy="1143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4000" b="1">
                <a:solidFill>
                  <a:srgbClr val="F4F7FC"/>
                </a:solidFill>
                <a:latin typeface="Aptos"/>
              </a:defRPr>
            </a:pPr>
            <a:r>
              <a:t>SMART TATKAL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697480"/>
            <a:ext cx="7040880" cy="685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400" b="1">
                <a:solidFill>
                  <a:srgbClr val="31D5D2"/>
                </a:solidFill>
                <a:latin typeface="Aptos"/>
              </a:defRPr>
            </a:pPr>
            <a:r>
              <a:t>AI-Assisted Ticket Booking Companion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657600"/>
            <a:ext cx="630936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800" b="0">
                <a:solidFill>
                  <a:srgbClr val="AEBCD2"/>
                </a:solidFill>
                <a:latin typeface="Aptos"/>
              </a:defRPr>
            </a:pPr>
            <a:r>
              <a:t>Reducing booking friction with preparation, guided steps, and clear status updates.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5760720"/>
            <a:ext cx="5943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4F7FC"/>
                </a:solidFill>
                <a:latin typeface="Aptos"/>
              </a:defRPr>
            </a:pPr>
            <a:r>
              <a:t>Presented by: [Your Name / Team Name]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2971800"/>
            <a:ext cx="192024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400" b="1">
                <a:solidFill>
                  <a:srgbClr val="F4F7FC"/>
                </a:solidFill>
                <a:latin typeface="Aptos"/>
              </a:defRPr>
            </a:pPr>
            <a:r>
              <a:t>10:00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7968" y="3520440"/>
            <a:ext cx="251460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1">
                <a:solidFill>
                  <a:srgbClr val="31D5D2"/>
                </a:solidFill>
                <a:latin typeface="Aptos"/>
              </a:defRPr>
            </a:pPr>
            <a:r>
              <a:t>READY • REVIEW • 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000" b="1">
                <a:solidFill>
                  <a:srgbClr val="AEBCD2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31D5D2"/>
                </a:solidFill>
                <a:latin typeface="Aptos"/>
              </a:defRPr>
            </a:pPr>
            <a:r>
              <a:t>01 / 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F4F7FC"/>
                </a:solidFill>
                <a:latin typeface="Aptos"/>
              </a:defRPr>
            </a:pPr>
            <a:r>
              <a:t>Why Tatkal booking feels stressful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17320"/>
            <a:ext cx="658368" cy="50292"/>
          </a:xfrm>
          <a:prstGeom prst="rect">
            <a:avLst/>
          </a:prstGeom>
          <a:solidFill>
            <a:srgbClr val="31D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000" b="1">
                <a:solidFill>
                  <a:srgbClr val="AEBCD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3493008" cy="1828800"/>
          </a:xfrm>
          <a:prstGeom prst="roundRect">
            <a:avLst/>
          </a:prstGeom>
          <a:solidFill>
            <a:srgbClr val="16213A"/>
          </a:solidFill>
          <a:ln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901952"/>
            <a:ext cx="3090672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31D5D2"/>
                </a:solidFill>
                <a:latin typeface="Aptos"/>
              </a:defRPr>
            </a:pPr>
            <a:r>
              <a:t>Peak-time demand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322576"/>
            <a:ext cx="3090672" cy="11155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4F7FC"/>
                </a:solidFill>
                <a:latin typeface="Aptos"/>
              </a:defRPr>
            </a:pPr>
            <a:r>
              <a:t>Many passengers compete for limited seats when the booking window opens.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2544" y="1737360"/>
            <a:ext cx="3493008" cy="1828800"/>
          </a:xfrm>
          <a:prstGeom prst="roundRect">
            <a:avLst/>
          </a:prstGeom>
          <a:solidFill>
            <a:srgbClr val="16213A"/>
          </a:solidFill>
          <a:ln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901952"/>
            <a:ext cx="3090672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FFAE53"/>
                </a:solidFill>
                <a:latin typeface="Aptos"/>
              </a:defRPr>
            </a:pPr>
            <a:r>
              <a:t>Time pressure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322576"/>
            <a:ext cx="3090672" cy="11155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4F7FC"/>
                </a:solidFill>
                <a:latin typeface="Aptos"/>
              </a:defRPr>
            </a:pPr>
            <a:r>
              <a:t>Searching trains, entering passenger details, and navigating payment steps can take valuable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37360"/>
            <a:ext cx="3493008" cy="1828800"/>
          </a:xfrm>
          <a:prstGeom prst="roundRect">
            <a:avLst/>
          </a:prstGeom>
          <a:solidFill>
            <a:srgbClr val="16213A"/>
          </a:solidFill>
          <a:ln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1901952"/>
            <a:ext cx="3090672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F57078"/>
                </a:solidFill>
                <a:latin typeface="Aptos"/>
              </a:defRPr>
            </a:pPr>
            <a:r>
              <a:t>Uncertainty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322576"/>
            <a:ext cx="3090672" cy="11155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4F7FC"/>
                </a:solidFill>
                <a:latin typeface="Aptos"/>
              </a:defRPr>
            </a:pPr>
            <a:r>
              <a:t>Payment delays, session expiry, and unclear status can make the experience confusing.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69080"/>
            <a:ext cx="1051560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000" b="1">
                <a:solidFill>
                  <a:srgbClr val="31D5D2"/>
                </a:solidFill>
                <a:latin typeface="Aptos"/>
              </a:defRPr>
            </a:pPr>
            <a:r>
              <a:t>Opportunity: help users prepare accurately before booking begins—without bypassing official controls.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166360"/>
            <a:ext cx="103327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EBCD2"/>
                </a:solidFill>
                <a:latin typeface="Aptos"/>
              </a:defRPr>
            </a:pPr>
            <a:r>
              <a:t>Note: Any numeric claims about sell-out times or success rates should be validated with reliable data before presenting.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31D5D2"/>
                </a:solidFill>
                <a:latin typeface="Aptos"/>
              </a:defRPr>
            </a:pPr>
            <a:r>
              <a:t>02 / PROPOSED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F4F7FC"/>
                </a:solidFill>
                <a:latin typeface="Aptos"/>
              </a:defRPr>
            </a:pPr>
            <a:r>
              <a:t>A guided, user-controlled booking companion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17320"/>
            <a:ext cx="658368" cy="50292"/>
          </a:xfrm>
          <a:prstGeom prst="rect">
            <a:avLst/>
          </a:prstGeom>
          <a:solidFill>
            <a:srgbClr val="31D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000" b="1">
                <a:solidFill>
                  <a:srgbClr val="AEBCD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3493008" cy="2926080"/>
          </a:xfrm>
          <a:prstGeom prst="roundRect">
            <a:avLst/>
          </a:prstGeom>
          <a:solidFill>
            <a:srgbClr val="16213A"/>
          </a:solidFill>
          <a:ln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901952"/>
            <a:ext cx="3090672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31D5D2"/>
                </a:solidFill>
                <a:latin typeface="Aptos"/>
              </a:defRPr>
            </a:pPr>
            <a:r>
              <a:t>Prepare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322576"/>
            <a:ext cx="3090672" cy="22128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4F7FC"/>
                </a:solidFill>
                <a:latin typeface="Aptos"/>
              </a:defRPr>
            </a:pPr>
            <a:r>
              <a:t>Save a reusable passenger checklist locally; review train, date, quota, and preferences before the window.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2544" y="1737360"/>
            <a:ext cx="3493008" cy="2926080"/>
          </a:xfrm>
          <a:prstGeom prst="roundRect">
            <a:avLst/>
          </a:prstGeom>
          <a:solidFill>
            <a:srgbClr val="16213A"/>
          </a:solidFill>
          <a:ln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901952"/>
            <a:ext cx="3090672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31D5D2"/>
                </a:solidFill>
                <a:latin typeface="Aptos"/>
              </a:defRPr>
            </a:pPr>
            <a:r>
              <a:t>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322576"/>
            <a:ext cx="3090672" cy="22128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4F7FC"/>
                </a:solidFill>
                <a:latin typeface="Aptos"/>
              </a:defRPr>
            </a:pPr>
            <a:r>
              <a:t>Show a timed checklist and open the official booking flow. The user completes login, CAPTCHA, and required confirmations.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37360"/>
            <a:ext cx="3493008" cy="2926080"/>
          </a:xfrm>
          <a:prstGeom prst="roundRect">
            <a:avLst/>
          </a:prstGeom>
          <a:solidFill>
            <a:srgbClr val="16213A"/>
          </a:solidFill>
          <a:ln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1901952"/>
            <a:ext cx="3090672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31D5D2"/>
                </a:solidFill>
                <a:latin typeface="Aptos"/>
              </a:defRPr>
            </a:pPr>
            <a:r>
              <a:t>Track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322576"/>
            <a:ext cx="3090672" cy="22128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4F7FC"/>
                </a:solidFill>
                <a:latin typeface="Aptos"/>
              </a:defRPr>
            </a:pPr>
            <a:r>
              <a:t>Let users record booking and payment status, with clear next-step guidance for pending, failed, or successful outcomes.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166360"/>
            <a:ext cx="10515600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31D5D2"/>
                </a:solidFill>
                <a:latin typeface="Aptos"/>
              </a:defRPr>
            </a:pPr>
            <a:r>
              <a:t>Design principle: assist the passenger, but keep official authentication, CAPTCHA, and payment authorization under human control.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31D5D2"/>
                </a:solidFill>
                <a:latin typeface="Aptos"/>
              </a:defRPr>
            </a:pPr>
            <a:r>
              <a:t>03 /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F4F7FC"/>
                </a:solidFill>
                <a:latin typeface="Aptos"/>
              </a:defRPr>
            </a:pPr>
            <a:r>
              <a:t>What makes Smart Tatkal useful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17320"/>
            <a:ext cx="658368" cy="50292"/>
          </a:xfrm>
          <a:prstGeom prst="rect">
            <a:avLst/>
          </a:prstGeom>
          <a:solidFill>
            <a:srgbClr val="31D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000" b="1">
                <a:solidFill>
                  <a:srgbClr val="AEBCD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303520" cy="1508760"/>
          </a:xfrm>
          <a:prstGeom prst="roundRect">
            <a:avLst/>
          </a:prstGeom>
          <a:solidFill>
            <a:srgbClr val="16213A"/>
          </a:solidFill>
          <a:ln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901952"/>
            <a:ext cx="4901183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31D5D2"/>
                </a:solidFill>
                <a:latin typeface="Aptos"/>
              </a:defRPr>
            </a:pPr>
            <a:r>
              <a:t>Local-first privacy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322576"/>
            <a:ext cx="4901183" cy="79552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4F7FC"/>
                </a:solidFill>
                <a:latin typeface="Aptos"/>
              </a:defRPr>
            </a:pPr>
            <a:r>
              <a:t>Passenger checklist stays on the user's device; sensitive credentials are not collected by the prototype.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737360"/>
            <a:ext cx="5303520" cy="1508760"/>
          </a:xfrm>
          <a:prstGeom prst="roundRect">
            <a:avLst/>
          </a:prstGeom>
          <a:solidFill>
            <a:srgbClr val="16213A"/>
          </a:solidFill>
          <a:ln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01952"/>
            <a:ext cx="4901183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FFAE53"/>
                </a:solidFill>
                <a:latin typeface="Aptos"/>
              </a:defRPr>
            </a:pPr>
            <a:r>
              <a:t>Readiness timer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22576"/>
            <a:ext cx="4901183" cy="79552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4F7FC"/>
                </a:solidFill>
                <a:latin typeface="Aptos"/>
              </a:defRPr>
            </a:pPr>
            <a:r>
              <a:t>A clear countdown and pre-flight checklist reduce avoidable last-minute omissions.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520440"/>
            <a:ext cx="5303520" cy="1508760"/>
          </a:xfrm>
          <a:prstGeom prst="roundRect">
            <a:avLst/>
          </a:prstGeom>
          <a:solidFill>
            <a:srgbClr val="16213A"/>
          </a:solidFill>
          <a:ln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3685032"/>
            <a:ext cx="4901183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31D5D2"/>
                </a:solidFill>
                <a:latin typeface="Aptos"/>
              </a:defRPr>
            </a:pPr>
            <a:r>
              <a:t>Accessible guidance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105656"/>
            <a:ext cx="4901183" cy="79552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4F7FC"/>
                </a:solidFill>
                <a:latin typeface="Aptos"/>
              </a:defRPr>
            </a:pPr>
            <a:r>
              <a:t>Simple Hindi/English instructions, large controls, and readable status messages.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3520440"/>
            <a:ext cx="5303520" cy="1508760"/>
          </a:xfrm>
          <a:prstGeom prst="roundRect">
            <a:avLst/>
          </a:prstGeom>
          <a:solidFill>
            <a:srgbClr val="16213A"/>
          </a:solidFill>
          <a:ln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685032"/>
            <a:ext cx="4901183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F57078"/>
                </a:solidFill>
                <a:latin typeface="Aptos"/>
              </a:defRPr>
            </a:pPr>
            <a:r>
              <a:t>Transparent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105656"/>
            <a:ext cx="4901183" cy="79552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4F7FC"/>
                </a:solidFill>
                <a:latin typeface="Aptos"/>
              </a:defRPr>
            </a:pPr>
            <a:r>
              <a:t>Separate booking confirmation from payment status; never imply a ticket is confirmed until official confirmation is received.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31D5D2"/>
                </a:solidFill>
                <a:latin typeface="Aptos"/>
              </a:defRPr>
            </a:pPr>
            <a:r>
              <a:t>04 /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F4F7FC"/>
                </a:solidFill>
                <a:latin typeface="Aptos"/>
              </a:defRPr>
            </a:pPr>
            <a:r>
              <a:t>Prototype 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17320"/>
            <a:ext cx="658368" cy="50292"/>
          </a:xfrm>
          <a:prstGeom prst="rect">
            <a:avLst/>
          </a:prstGeom>
          <a:solidFill>
            <a:srgbClr val="31D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000" b="1">
                <a:solidFill>
                  <a:srgbClr val="AEBCD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3493008" cy="1828800"/>
          </a:xfrm>
          <a:prstGeom prst="roundRect">
            <a:avLst/>
          </a:prstGeom>
          <a:solidFill>
            <a:srgbClr val="16213A"/>
          </a:solidFill>
          <a:ln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901952"/>
            <a:ext cx="3090672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31D5D2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322576"/>
            <a:ext cx="3090672" cy="11155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4F7FC"/>
                </a:solidFill>
                <a:latin typeface="Aptos"/>
              </a:defRPr>
            </a:pPr>
            <a:r>
              <a:t>React or Next.js</a:t>
            </a:r>
            <a:br/>
            <a:r>
              <a:t>Responsive dashboard</a:t>
            </a:r>
            <a:br/>
            <a:r>
              <a:t>Tailwind CSS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2544" y="1737360"/>
            <a:ext cx="3493008" cy="1828800"/>
          </a:xfrm>
          <a:prstGeom prst="roundRect">
            <a:avLst/>
          </a:prstGeom>
          <a:solidFill>
            <a:srgbClr val="16213A"/>
          </a:solidFill>
          <a:ln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901952"/>
            <a:ext cx="3090672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FFAE53"/>
                </a:solidFill>
                <a:latin typeface="Aptos"/>
              </a:defRPr>
            </a:pPr>
            <a:r>
              <a:t>Backend (optional)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322576"/>
            <a:ext cx="3090672" cy="11155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4F7FC"/>
                </a:solidFill>
                <a:latin typeface="Aptos"/>
              </a:defRPr>
            </a:pPr>
            <a:r>
              <a:t>Node.js / Express</a:t>
            </a:r>
            <a:br/>
            <a:r>
              <a:t>Minimal APIs for demo data</a:t>
            </a:r>
            <a:br/>
            <a:r>
              <a:t>No IRCTC credential handling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37360"/>
            <a:ext cx="3493008" cy="1828800"/>
          </a:xfrm>
          <a:prstGeom prst="roundRect">
            <a:avLst/>
          </a:prstGeom>
          <a:solidFill>
            <a:srgbClr val="16213A"/>
          </a:solidFill>
          <a:ln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1901952"/>
            <a:ext cx="3090672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F57078"/>
                </a:solidFill>
                <a:latin typeface="Aptos"/>
              </a:defRPr>
            </a:pPr>
            <a:r>
              <a:t>Storage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322576"/>
            <a:ext cx="3090672" cy="11155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4F7FC"/>
                </a:solidFill>
                <a:latin typeface="Aptos"/>
              </a:defRPr>
            </a:pPr>
            <a:r>
              <a:t>Browser local storage</a:t>
            </a:r>
            <a:br/>
            <a:r>
              <a:t>Demo-only sample records</a:t>
            </a:r>
            <a:br/>
            <a:r>
              <a:t>Avoid storing passwords or OTPs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160520"/>
            <a:ext cx="1051560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31D5D2"/>
                </a:solidFill>
                <a:latin typeface="Aptos"/>
              </a:defRPr>
            </a:pPr>
            <a:r>
              <a:t>Prototype scope: a standalone preparation and guidance tool. No CAPTCHA solving, automated login, queue manipulation, or payment automation.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31D5D2"/>
                </a:solidFill>
                <a:latin typeface="Aptos"/>
              </a:defRPr>
            </a:pPr>
            <a:r>
              <a:t>05 /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F4F7FC"/>
                </a:solidFill>
                <a:latin typeface="Aptos"/>
              </a:defRPr>
            </a:pPr>
            <a:r>
              <a:t>Who could benefit?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17320"/>
            <a:ext cx="658368" cy="50292"/>
          </a:xfrm>
          <a:prstGeom prst="rect">
            <a:avLst/>
          </a:prstGeom>
          <a:solidFill>
            <a:srgbClr val="31D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000" b="1">
                <a:solidFill>
                  <a:srgbClr val="AEBCD2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3493008" cy="2194560"/>
          </a:xfrm>
          <a:prstGeom prst="roundRect">
            <a:avLst/>
          </a:prstGeom>
          <a:solidFill>
            <a:srgbClr val="16213A"/>
          </a:solidFill>
          <a:ln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901952"/>
            <a:ext cx="3090672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31D5D2"/>
                </a:solidFill>
                <a:latin typeface="Aptos"/>
              </a:defRPr>
            </a:pPr>
            <a:r>
              <a:t>Urgent travelers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322576"/>
            <a:ext cx="3090672" cy="14813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4F7FC"/>
                </a:solidFill>
                <a:latin typeface="Aptos"/>
              </a:defRPr>
            </a:pPr>
            <a:r>
              <a:t>People arranging short-notice travel for work, family, or essential needs.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2544" y="1737360"/>
            <a:ext cx="3493008" cy="2194560"/>
          </a:xfrm>
          <a:prstGeom prst="roundRect">
            <a:avLst/>
          </a:prstGeom>
          <a:solidFill>
            <a:srgbClr val="16213A"/>
          </a:solidFill>
          <a:ln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901952"/>
            <a:ext cx="3090672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FFAE53"/>
                </a:solidFill>
                <a:latin typeface="Aptos"/>
              </a:defRPr>
            </a:pPr>
            <a:r>
              <a:t>Students &amp; workers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322576"/>
            <a:ext cx="3090672" cy="14813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4F7FC"/>
                </a:solidFill>
                <a:latin typeface="Aptos"/>
              </a:defRPr>
            </a:pPr>
            <a:r>
              <a:t>Users who want a clear checklist and fewer avoidable form-entry mistakes.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37360"/>
            <a:ext cx="3493008" cy="2194560"/>
          </a:xfrm>
          <a:prstGeom prst="roundRect">
            <a:avLst/>
          </a:prstGeom>
          <a:solidFill>
            <a:srgbClr val="16213A"/>
          </a:solidFill>
          <a:ln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1901952"/>
            <a:ext cx="3090672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31D5D2"/>
                </a:solidFill>
                <a:latin typeface="Aptos"/>
              </a:defRPr>
            </a:pPr>
            <a:r>
              <a:t>First-time bookers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322576"/>
            <a:ext cx="3090672" cy="14813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4F7FC"/>
                </a:solidFill>
                <a:latin typeface="Aptos"/>
              </a:defRPr>
            </a:pPr>
            <a:r>
              <a:t>Passengers who need plain-language guidance through official booking steps.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572000"/>
            <a:ext cx="1042416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AEBCD2"/>
                </a:solidFill>
                <a:latin typeface="Aptos"/>
              </a:defRPr>
            </a:pPr>
            <a:r>
              <a:t>The concept aims to improve preparedness and clarity—not guarantee seat availability or booking success.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31D5D2"/>
                </a:solidFill>
                <a:latin typeface="Aptos"/>
              </a:defRPr>
            </a:pPr>
            <a:r>
              <a:t>06 /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F4F7FC"/>
                </a:solidFill>
                <a:latin typeface="Aptos"/>
              </a:defRPr>
            </a:pPr>
            <a:r>
              <a:t>Simple, privacy-conscious system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17320"/>
            <a:ext cx="658368" cy="50292"/>
          </a:xfrm>
          <a:prstGeom prst="rect">
            <a:avLst/>
          </a:prstGeom>
          <a:solidFill>
            <a:srgbClr val="31D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000" b="1">
                <a:solidFill>
                  <a:srgbClr val="AEBCD2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48840"/>
            <a:ext cx="2286000" cy="914400"/>
          </a:xfrm>
          <a:prstGeom prst="roundRect">
            <a:avLst/>
          </a:prstGeom>
          <a:solidFill>
            <a:srgbClr val="16213A"/>
          </a:solidFill>
          <a:ln>
            <a:solidFill>
              <a:srgbClr val="31D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4F7FC"/>
                </a:solidFill>
              </a:defRPr>
            </a:pPr>
            <a:r>
              <a:t>Passenger</a:t>
            </a:r>
          </a:p>
          <a:p>
            <a:pPr algn="ctr">
              <a:defRPr sz="1400" b="1">
                <a:solidFill>
                  <a:srgbClr val="F4F7FC"/>
                </a:solidFill>
              </a:defRPr>
            </a:pPr>
            <a:r>
              <a:t>Web 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2148840"/>
            <a:ext cx="2286000" cy="914400"/>
          </a:xfrm>
          <a:prstGeom prst="roundRect">
            <a:avLst/>
          </a:prstGeom>
          <a:solidFill>
            <a:srgbClr val="16213A"/>
          </a:solidFill>
          <a:ln>
            <a:solidFill>
              <a:srgbClr val="31D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4F7FC"/>
                </a:solidFill>
              </a:defRPr>
            </a:pPr>
            <a:r>
              <a:t>Local Checklist</a:t>
            </a:r>
          </a:p>
          <a:p>
            <a:pPr algn="ctr">
              <a:defRPr sz="1400" b="1">
                <a:solidFill>
                  <a:srgbClr val="F4F7FC"/>
                </a:solidFill>
              </a:defRPr>
            </a:pPr>
            <a:r>
              <a:t>&amp; Timer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2148840"/>
            <a:ext cx="2286000" cy="914400"/>
          </a:xfrm>
          <a:prstGeom prst="roundRect">
            <a:avLst/>
          </a:prstGeom>
          <a:solidFill>
            <a:srgbClr val="16213A"/>
          </a:solidFill>
          <a:ln>
            <a:solidFill>
              <a:srgbClr val="31D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4F7FC"/>
                </a:solidFill>
              </a:defRPr>
            </a:pPr>
            <a:r>
              <a:t>Official Booking</a:t>
            </a:r>
          </a:p>
          <a:p>
            <a:pPr algn="ctr">
              <a:defRPr sz="1400" b="1">
                <a:solidFill>
                  <a:srgbClr val="F4F7FC"/>
                </a:solidFill>
              </a:defRPr>
            </a:pPr>
            <a:r>
              <a:t>Website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64040" y="2148840"/>
            <a:ext cx="1920240" cy="914400"/>
          </a:xfrm>
          <a:prstGeom prst="roundRect">
            <a:avLst/>
          </a:prstGeom>
          <a:solidFill>
            <a:srgbClr val="16213A"/>
          </a:solidFill>
          <a:ln>
            <a:solidFill>
              <a:srgbClr val="31D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4F7FC"/>
                </a:solidFill>
              </a:defRPr>
            </a:pPr>
            <a:r>
              <a:t>User Reviews</a:t>
            </a:r>
          </a:p>
          <a:p>
            <a:pPr algn="ctr">
              <a:defRPr sz="1400" b="1">
                <a:solidFill>
                  <a:srgbClr val="F4F7FC"/>
                </a:solidFill>
              </a:defRPr>
            </a:pPr>
            <a:r>
              <a:t>&amp; Confirms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17520" y="2606040"/>
            <a:ext cx="640080" cy="0"/>
          </a:xfrm>
          <a:prstGeom prst="line">
            <a:avLst/>
          </a:prstGeom>
          <a:ln w="25400">
            <a:solidFill>
              <a:srgbClr val="31D5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943600" y="2606040"/>
            <a:ext cx="640080" cy="0"/>
          </a:xfrm>
          <a:prstGeom prst="line">
            <a:avLst/>
          </a:prstGeom>
          <a:ln w="25400">
            <a:solidFill>
              <a:srgbClr val="31D5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869680" y="2606040"/>
            <a:ext cx="594360" cy="0"/>
          </a:xfrm>
          <a:prstGeom prst="line">
            <a:avLst/>
          </a:prstGeom>
          <a:ln w="25400">
            <a:solidFill>
              <a:srgbClr val="31D5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14400" y="3977639"/>
            <a:ext cx="1024128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600" b="0">
                <a:solidFill>
                  <a:srgbClr val="AEBCD2"/>
                </a:solidFill>
                <a:latin typeface="Aptos"/>
              </a:defRPr>
            </a:pPr>
            <a:r>
              <a:t>The companion stores only user-prepared checklist data. Login, CAPTCHA, passenger submission, and payment authorization remain on the official service and with the user.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166360"/>
            <a:ext cx="1024128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300" b="1">
                <a:solidFill>
                  <a:srgbClr val="FFAE53"/>
                </a:solidFill>
                <a:latin typeface="Aptos"/>
              </a:defRPr>
            </a:pPr>
            <a:r>
              <a:t>Demo architecture uses mock booking states; no live railway account integration.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31D5D2"/>
                </a:solidFill>
                <a:latin typeface="Aptos"/>
              </a:defRPr>
            </a:pPr>
            <a:r>
              <a:t>07 / MVP &amp;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F4F7FC"/>
                </a:solidFill>
                <a:latin typeface="Aptos"/>
              </a:defRPr>
            </a:pPr>
            <a:r>
              <a:t>What we can demonstrate in 24 hours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17320"/>
            <a:ext cx="658368" cy="50292"/>
          </a:xfrm>
          <a:prstGeom prst="rect">
            <a:avLst/>
          </a:prstGeom>
          <a:solidFill>
            <a:srgbClr val="31D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000" b="1">
                <a:solidFill>
                  <a:srgbClr val="AEBCD2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303520" cy="2286000"/>
          </a:xfrm>
          <a:prstGeom prst="roundRect">
            <a:avLst/>
          </a:prstGeom>
          <a:solidFill>
            <a:srgbClr val="16213A"/>
          </a:solidFill>
          <a:ln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901952"/>
            <a:ext cx="4901183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31D5D2"/>
                </a:solidFill>
                <a:latin typeface="Aptos"/>
              </a:defRPr>
            </a:pPr>
            <a:r>
              <a:t>MVP deliverables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322576"/>
            <a:ext cx="4901183" cy="15727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4F7FC"/>
                </a:solidFill>
                <a:latin typeface="Aptos"/>
              </a:defRPr>
            </a:pPr>
            <a:r>
              <a:t>• Passenger checklist builder</a:t>
            </a:r>
            <a:br/>
            <a:r>
              <a:t>• Train/date preference summary</a:t>
            </a:r>
            <a:br/>
            <a:r>
              <a:t>• Booking-window countdown</a:t>
            </a:r>
            <a:br/>
            <a:r>
              <a:t>• Official-site launch link</a:t>
            </a:r>
            <a:br/>
            <a:r>
              <a:t>• Mock status tracker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737360"/>
            <a:ext cx="5303520" cy="2286000"/>
          </a:xfrm>
          <a:prstGeom prst="roundRect">
            <a:avLst/>
          </a:prstGeom>
          <a:solidFill>
            <a:srgbClr val="16213A"/>
          </a:solidFill>
          <a:ln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01952"/>
            <a:ext cx="4901183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FFAE53"/>
                </a:solidFill>
                <a:latin typeface="Aptos"/>
              </a:defRPr>
            </a:pPr>
            <a:r>
              <a:t>Evaluation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22576"/>
            <a:ext cx="4901183" cy="15727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4F7FC"/>
                </a:solidFill>
                <a:latin typeface="Aptos"/>
              </a:defRPr>
            </a:pPr>
            <a:r>
              <a:t>• Checklist completion time</a:t>
            </a:r>
            <a:br/>
            <a:r>
              <a:t>• Missing-field error count in test tasks</a:t>
            </a:r>
            <a:br/>
            <a:r>
              <a:t>• Usability feedback from 5–10 testers</a:t>
            </a:r>
            <a:br/>
            <a:r>
              <a:t>• Clear understanding of payment/booking states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617720"/>
            <a:ext cx="1042416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F57078"/>
                </a:solidFill>
                <a:latin typeface="Aptos"/>
              </a:defRPr>
            </a:pPr>
            <a:r>
              <a:t>Avoid unsupported claims such as “80% success rate” or “under 20 seconds” unless measured in a controlled study.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31D5D2"/>
                </a:solidFill>
                <a:latin typeface="Aptos"/>
              </a:defRPr>
            </a:pPr>
            <a:r>
              <a:t>08 / TRUST &amp;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81360" cy="6217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800" b="1">
                <a:solidFill>
                  <a:srgbClr val="F4F7FC"/>
                </a:solidFill>
                <a:latin typeface="Aptos"/>
              </a:defRPr>
            </a:pPr>
            <a:r>
              <a:t>Safety, privacy, and platform boundaries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17320"/>
            <a:ext cx="658368" cy="50292"/>
          </a:xfrm>
          <a:prstGeom prst="rect">
            <a:avLst/>
          </a:prstGeom>
          <a:solidFill>
            <a:srgbClr val="31D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000" b="1">
                <a:solidFill>
                  <a:srgbClr val="AEBCD2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303520" cy="1965960"/>
          </a:xfrm>
          <a:prstGeom prst="roundRect">
            <a:avLst/>
          </a:prstGeom>
          <a:solidFill>
            <a:srgbClr val="16213A"/>
          </a:solidFill>
          <a:ln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901952"/>
            <a:ext cx="4901183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31D5D2"/>
                </a:solidFill>
                <a:latin typeface="Aptos"/>
              </a:defRPr>
            </a:pPr>
            <a:r>
              <a:t>User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322576"/>
            <a:ext cx="4901183" cy="12527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4F7FC"/>
                </a:solidFill>
                <a:latin typeface="Aptos"/>
              </a:defRPr>
            </a:pPr>
            <a:r>
              <a:t>No automated CAPTCHA solving, credential capture, queue manipulation, or unattended booking. User reviews and submits every step.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737360"/>
            <a:ext cx="5303520" cy="1965960"/>
          </a:xfrm>
          <a:prstGeom prst="roundRect">
            <a:avLst/>
          </a:prstGeom>
          <a:solidFill>
            <a:srgbClr val="16213A"/>
          </a:solidFill>
          <a:ln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01952"/>
            <a:ext cx="4901183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FFAE53"/>
                </a:solidFill>
                <a:latin typeface="Aptos"/>
              </a:defRPr>
            </a:pPr>
            <a:r>
              <a:t>Data minimization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22576"/>
            <a:ext cx="4901183" cy="12527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4F7FC"/>
                </a:solidFill>
                <a:latin typeface="Aptos"/>
              </a:defRPr>
            </a:pPr>
            <a:r>
              <a:t>Keep prototype data local; do not collect passwords, OTPs, payment credentials, or unnecessary personal information.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51960"/>
            <a:ext cx="10424160" cy="7772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31D5D2"/>
                </a:solidFill>
                <a:latin typeface="Aptos"/>
              </a:defRPr>
            </a:pPr>
            <a:r>
              <a:t>Before any real-world integration, review current IRCTC terms, applicable rules, and payment-provider requirements. The hackathon demo should use mock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31D5D2"/>
                </a:solidFill>
                <a:latin typeface="Aptos"/>
              </a:defRPr>
            </a:pPr>
            <a:r>
              <a:t>09 /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241280" cy="7772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000" b="1">
                <a:solidFill>
                  <a:srgbClr val="F4F7FC"/>
                </a:solidFill>
                <a:latin typeface="Aptos"/>
              </a:defRPr>
            </a:pPr>
            <a:r>
              <a:t>Make preparation simple.</a:t>
            </a:r>
            <a:br/>
            <a:r>
              <a:t>Keep booking in the user's hands.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788920"/>
            <a:ext cx="5120640" cy="1600200"/>
          </a:xfrm>
          <a:prstGeom prst="roundRect">
            <a:avLst/>
          </a:prstGeom>
          <a:solidFill>
            <a:srgbClr val="16213A"/>
          </a:solidFill>
          <a:ln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2953512"/>
            <a:ext cx="4718303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31D5D2"/>
                </a:solidFill>
                <a:latin typeface="Aptos"/>
              </a:defRPr>
            </a:pPr>
            <a: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3374136"/>
            <a:ext cx="4718303" cy="8869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4F7FC"/>
                </a:solidFill>
                <a:latin typeface="Aptos"/>
              </a:defRPr>
            </a:pPr>
            <a:r>
              <a:t>1. Build responsive checklist UI</a:t>
            </a:r>
            <a:br/>
            <a:r>
              <a:t>2. Add countdown and mock states</a:t>
            </a:r>
            <a:br/>
            <a:r>
              <a:t>3. Test with sample users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788920"/>
            <a:ext cx="5120640" cy="1600200"/>
          </a:xfrm>
          <a:prstGeom prst="roundRect">
            <a:avLst/>
          </a:prstGeom>
          <a:solidFill>
            <a:srgbClr val="16213A"/>
          </a:solidFill>
          <a:ln>
            <a:solidFill>
              <a:srgbClr val="2A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73368" y="2953512"/>
            <a:ext cx="4718303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FFAE53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3368" y="3374136"/>
            <a:ext cx="4718303" cy="8869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F4F7FC"/>
                </a:solidFill>
                <a:latin typeface="Aptos"/>
              </a:defRPr>
            </a:pPr>
            <a:r>
              <a:t>Multilingual guidance • Accessibility improvements • Officially permitted integrations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166360"/>
            <a:ext cx="100584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900" b="1">
                <a:solidFill>
                  <a:srgbClr val="31D5D2"/>
                </a:solidFill>
                <a:latin typeface="Aptos"/>
              </a:defRPr>
            </a:pPr>
            <a:r>
              <a:t>SMART TATKAL  |  Questions &amp;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1000" b="1">
                <a:solidFill>
                  <a:srgbClr val="AEBCD2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