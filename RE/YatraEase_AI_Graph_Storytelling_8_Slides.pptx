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task friction (concept only)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checklist (concept)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Prepare</c:v>
                </c:pt>
                <c:pt idx="1">
                  <c:v>Find details</c:v>
                </c:pt>
                <c:pt idx="2">
                  <c:v>Complete booking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YatraEase (concept)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Prepare</c:v>
                </c:pt>
                <c:pt idx="1">
                  <c:v>Find details</c:v>
                </c:pt>
                <c:pt idx="2">
                  <c:v>Complete booking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Relative effort units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731520"/>
            <a:ext cx="2560320" cy="2560320"/>
          </a:xfrm>
          <a:prstGeom prst="ellipse">
            <a:avLst/>
          </a:prstGeom>
          <a:solidFill>
            <a:srgbClr val="16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2057400"/>
            <a:ext cx="1554480" cy="1554480"/>
          </a:xfrm>
          <a:prstGeom prst="ellipse">
            <a:avLst/>
          </a:prstGeom>
          <a:solidFill>
            <a:srgbClr val="19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46120"/>
            <a:ext cx="914400" cy="914400"/>
          </a:xfrm>
          <a:prstGeom prst="ellipse">
            <a:avLst/>
          </a:prstGeom>
          <a:solidFill>
            <a:srgbClr val="12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32DAD3"/>
                </a:solidFill>
                <a:latin typeface="Aptos"/>
              </a:defRPr>
            </a:pPr>
            <a:r>
              <a:t>WHYCODE.4U •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40664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4200" b="1">
                <a:solidFill>
                  <a:srgbClr val="F6F8FC"/>
                </a:solidFill>
                <a:latin typeface="Aptos"/>
              </a:defRPr>
            </a:pPr>
            <a:r>
              <a:t>YATRAEASE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87168"/>
            <a:ext cx="70408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300" b="1">
                <a:solidFill>
                  <a:srgbClr val="32DAD3"/>
                </a:solidFill>
                <a:latin typeface="Aptos"/>
              </a:defRPr>
            </a:pPr>
            <a:r>
              <a:t>AI-Assisted Ticket Booking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64992"/>
            <a:ext cx="676656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B1BED2"/>
                </a:solidFill>
                <a:latin typeface="Aptos"/>
              </a:defRPr>
            </a:pPr>
            <a:r>
              <a:t>A user-controlled preparation tool designed to make high-pressure booking steps clearer, faster to navigate, and less error-prone.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15000"/>
            <a:ext cx="594360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Presented by: [Name / Team]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880360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2300" b="1">
                <a:solidFill>
                  <a:srgbClr val="F6F8FC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429000"/>
            <a:ext cx="25603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000" b="1">
                <a:solidFill>
                  <a:srgbClr val="32DAD3"/>
                </a:solidFill>
                <a:latin typeface="Aptos"/>
              </a:defRPr>
            </a:pPr>
            <a:r>
              <a:t>PREPARE • REVIEW •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Why Tatkal booking can be stressful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Peak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Many passengers compete for limited seats at the booking-window opening.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Time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Train search, passenger entry, and payment steps can consume valuable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Session expiry, payment delays, and unclear status create confusion.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32DAD3"/>
                </a:solidFill>
                <a:latin typeface="Aptos"/>
              </a:defRPr>
            </a:pPr>
            <a:r>
              <a:t>Who faces this? Short-notice travelers, students, working professionals, and first-time bookers.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10332720" cy="685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B1BED2"/>
                </a:solidFill>
                <a:latin typeface="Aptos"/>
              </a:defRPr>
            </a:pPr>
            <a:r>
              <a:t>Problem to solve: reduce avoidable preparation mistakes and explain the official process—without promising a ticket or bypassing platform safeguards.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89320" y="3429000"/>
          <a:ext cx="53492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80760" y="577900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A0AFBE"/>
                </a:solidFill>
              </a:defRPr>
            </a:pPr>
            <a:r>
              <a:t>Conceptual illustration for prototype discussion — not user-study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YatraEase AI: prepare, guide, and clarify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1. 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Save a local checklist of journey details and passenger information. Review it before booking 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2.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Countdown, readiness checklist, accessible Hindi/English instructions, and a link to the official booking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233172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3.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691639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Use clear mock/demo states to explain pending, failed, and confirmed outcomes. User verifies official confirmation.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424160" cy="685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32DAD3"/>
                </a:solidFill>
                <a:latin typeface="Aptos"/>
              </a:defRPr>
            </a:pPr>
            <a:r>
              <a:t>Innovation: local-first privacy + readiness timer + plain-language guidance + transparent booking/payment status.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0">
                <a:solidFill>
                  <a:srgbClr val="B1BED2"/>
                </a:solidFill>
                <a:latin typeface="Aptos"/>
              </a:defRPr>
            </a:pPr>
            <a:r>
              <a:t>User stays in control of login, CAPTCHA, passenger submission, and payment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03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What the prototype will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Set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Train, date, class, quota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872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Review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Passenger fields and preferences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1908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Open official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User logs in and completes required 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840" y="2852928"/>
            <a:ext cx="265176" cy="0"/>
          </a:xfrm>
          <a:prstGeom prst="line">
            <a:avLst/>
          </a:prstGeom>
          <a:ln w="2540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99448" y="1874519"/>
            <a:ext cx="2578608" cy="20116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057400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32DA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5603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F8FC"/>
                </a:solidFill>
                <a:latin typeface="Aptos"/>
              </a:defRPr>
            </a:pPr>
            <a:r>
              <a:t>Confirm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035808"/>
            <a:ext cx="224028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User checks official booking/payment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1033272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Demo scenario: use sample passenger data and simulated status changes; do not connect to live accounts during the hackathon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Full-stack architecture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React / Next.js</a:t>
            </a:r>
            <a:br/>
            <a:r>
              <a:t>Tailwind CSS</a:t>
            </a:r>
            <a:br/>
            <a:r>
              <a:t>Responsive checklist + timer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Backend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Node.js + Express</a:t>
            </a:r>
            <a:br/>
            <a:r>
              <a:t>Demo endpoints only</a:t>
            </a:r>
            <a:br/>
            <a:r>
              <a:t>No railway credential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93008" cy="1965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27248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6757E"/>
                </a:solidFill>
                <a:latin typeface="Aptos"/>
              </a:defRPr>
            </a:pPr>
            <a:r>
              <a:t>Storage &amp;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76272"/>
            <a:ext cx="3127248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Browser local storage</a:t>
            </a:r>
            <a:br/>
            <a:r>
              <a:t>Mock booking records</a:t>
            </a:r>
            <a:br/>
            <a:r>
              <a:t>Input validation and accessibility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Browser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26663" y="4663440"/>
            <a:ext cx="566928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Checklist logic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5583" y="4663440"/>
            <a:ext cx="566929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46520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Demo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Mock states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04504" y="4663440"/>
            <a:ext cx="566928" cy="0"/>
          </a:xfrm>
          <a:prstGeom prst="line">
            <a:avLst/>
          </a:prstGeom>
          <a:ln w="19050">
            <a:solidFill>
              <a:srgbClr val="32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39" y="4251960"/>
            <a:ext cx="2148840" cy="841248"/>
          </a:xfrm>
          <a:prstGeom prst="roundRect">
            <a:avLst/>
          </a:prstGeom>
          <a:solidFill>
            <a:srgbClr val="122F43"/>
          </a:solidFill>
          <a:ln>
            <a:solidFill>
              <a:srgbClr val="32D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1" y="4370832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200" b="1">
                <a:solidFill>
                  <a:srgbClr val="32DAD3"/>
                </a:solidFill>
                <a:latin typeface="Aptos"/>
              </a:defRPr>
            </a:pPr>
            <a:r>
              <a:t>Local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1" y="4663440"/>
            <a:ext cx="1993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>
              <a:defRPr sz="1100" b="0">
                <a:solidFill>
                  <a:srgbClr val="F6F8FC"/>
                </a:solidFill>
                <a:latin typeface="Aptos"/>
              </a:defRPr>
            </a:pPr>
            <a:r>
              <a:t>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864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B1BED2"/>
                </a:solidFill>
                <a:latin typeface="Aptos"/>
              </a:defRPr>
            </a:pPr>
            <a:r>
              <a:t>AI is optional in the MVP: use it only for help text or checklist explanations, not CAPTCHA or booking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05 / 24-HOUR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MVP scope and team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108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MVP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937759" cy="2468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• Journey and passenger checklist</a:t>
            </a:r>
            <a:br/>
            <a:r>
              <a:t>• Booking-window countdown</a:t>
            </a:r>
            <a:br/>
            <a:r>
              <a:t>• Official-site launch link</a:t>
            </a:r>
            <a:br/>
            <a:r>
              <a:t>• Mock booking/payment status tracker</a:t>
            </a:r>
            <a:br/>
            <a:r>
              <a:t>• Responsive UI and basic accessibility</a:t>
            </a:r>
            <a:br/>
            <a:r>
              <a:t>• Privacy note and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5303520" cy="310896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Team split (2–3 people)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76272"/>
            <a:ext cx="4937759" cy="2468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F6F8FC"/>
                </a:solidFill>
                <a:latin typeface="Aptos"/>
              </a:defRPr>
            </a:pPr>
            <a:r>
              <a:t>Member A: UI pages and responsive styling</a:t>
            </a:r>
            <a:br/>
            <a:r>
              <a:t>Member B: data model, checklist logic, demo states</a:t>
            </a:r>
            <a:br/>
            <a:r>
              <a:t>Member C: testing, integration, slides, and demo script</a:t>
            </a:r>
            <a:br/>
            <a:br/>
            <a:r>
              <a:t>Suggested cadence: plan 0–2h; build 2–14h; integrate 14–19h; test/deploy 19–22h; rehearse 22–24h.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1">
                <a:solidFill>
                  <a:srgbClr val="32DAD3"/>
                </a:solidFill>
                <a:latin typeface="Aptos"/>
              </a:defRPr>
            </a:pPr>
            <a:r>
              <a:t>Success measures: checklist completion time, missing-field errors in test tasks, and user understanding of status messages.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1">
                <a:solidFill>
                  <a:srgbClr val="32DAD3"/>
                </a:solidFill>
                <a:latin typeface="Aptos"/>
              </a:defRPr>
            </a:pPr>
            <a:r>
              <a:t>06 / RESPONSIBLE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700" b="1">
                <a:solidFill>
                  <a:srgbClr val="F6F8FC"/>
                </a:solidFill>
                <a:latin typeface="Aptos"/>
              </a:defRPr>
            </a:pPr>
            <a:r>
              <a:t>Privacy, compliance, and honest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8368" cy="45720"/>
          </a:xfrm>
          <a:prstGeom prst="rect">
            <a:avLst/>
          </a:prstGeom>
          <a:solidFill>
            <a:srgbClr val="32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228600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937759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No automated login, CAPTCHA solving, queue manipulation, or unattended purchase. User reviews and submits each official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5303520" cy="228600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92224"/>
            <a:ext cx="493775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76272"/>
            <a:ext cx="4937759" cy="1645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Keep demo preferences local. Do not collect passwords, OTPs, payment credentials, or unnecessary personal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F6F8FC"/>
                </a:solidFill>
                <a:latin typeface="Aptos"/>
              </a:defRPr>
            </a:pPr>
            <a:r>
              <a:t>Use mock data in the hackathon. Check current IRCTC terms and applicable payment requirements before proposing any real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1024128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1">
                <a:solidFill>
                  <a:srgbClr val="F6757E"/>
                </a:solidFill>
                <a:latin typeface="Aptos"/>
              </a:defRPr>
            </a:pPr>
            <a:r>
              <a:t>Do not claim a specific booking success uplift or speed improvement unless measured and independently validated.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32DAD3"/>
                </a:solidFill>
                <a:latin typeface="Aptos"/>
              </a:defRPr>
            </a:pPr>
            <a:r>
              <a:t>07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42416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900" b="1">
                <a:solidFill>
                  <a:srgbClr val="F6F8FC"/>
                </a:solidFill>
                <a:latin typeface="Aptos"/>
              </a:defRPr>
            </a:pPr>
            <a:r>
              <a:t>Less confusion. Better preparation.</a:t>
            </a:r>
            <a:br/>
            <a:r>
              <a:t>Booking stays in the user's hands.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15544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89504"/>
            <a:ext cx="475487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32DAD3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73552"/>
            <a:ext cx="4754879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Build the checklist → test the flow → deploy the prototype → gather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43200"/>
            <a:ext cx="5120640" cy="1554480"/>
          </a:xfrm>
          <a:prstGeom prst="roundRect">
            <a:avLst/>
          </a:prstGeom>
          <a:solidFill>
            <a:srgbClr val="16223B"/>
          </a:solidFill>
          <a:ln>
            <a:solidFill>
              <a:srgbClr val="2A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889504"/>
            <a:ext cx="4754879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FFB557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73552"/>
            <a:ext cx="4754879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F6F8FC"/>
                </a:solidFill>
                <a:latin typeface="Aptos"/>
              </a:defRPr>
            </a:pPr>
            <a:r>
              <a:t>Multilingual guidance, accessibility refinements, and only officially permitted integrations.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32DAD3"/>
                </a:solidFill>
                <a:latin typeface="Aptos"/>
              </a:defRPr>
            </a:pPr>
            <a:r>
              <a:t>Thank you • Questions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B1BED2"/>
                </a:solidFill>
                <a:latin typeface="Aptos"/>
              </a:defRPr>
            </a:pPr>
            <a:r>
              <a:t>Presenter cue: explain the problem in 20 sec, walk through the demo in 60 sec, then cover stack, safeguards, and next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>
              <a:defRPr sz="1000" b="1">
                <a:solidFill>
                  <a:srgbClr val="B1BED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