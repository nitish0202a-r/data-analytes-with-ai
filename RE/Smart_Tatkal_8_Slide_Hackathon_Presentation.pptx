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731520"/>
            <a:ext cx="2560320" cy="2560320"/>
          </a:xfrm>
          <a:prstGeom prst="ellipse">
            <a:avLst/>
          </a:prstGeom>
          <a:solidFill>
            <a:srgbClr val="16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2057400"/>
            <a:ext cx="1554480" cy="1554480"/>
          </a:xfrm>
          <a:prstGeom prst="ellipse">
            <a:avLst/>
          </a:prstGeom>
          <a:solidFill>
            <a:srgbClr val="19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3246120"/>
            <a:ext cx="914400" cy="914400"/>
          </a:xfrm>
          <a:prstGeom prst="ellipse">
            <a:avLst/>
          </a:prstGeom>
          <a:solidFill>
            <a:srgbClr val="124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32DAD3"/>
                </a:solidFill>
                <a:latin typeface="Aptos"/>
              </a:defRPr>
            </a:pPr>
            <a:r>
              <a:t>WHYCODE.4U •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7406640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4200" b="1">
                <a:solidFill>
                  <a:srgbClr val="F6F8FC"/>
                </a:solidFill>
                <a:latin typeface="Aptos"/>
              </a:defRPr>
            </a:pPr>
            <a:r>
              <a:t>SMART TATKAL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487168"/>
            <a:ext cx="704088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300" b="1">
                <a:solidFill>
                  <a:srgbClr val="32DAD3"/>
                </a:solidFill>
                <a:latin typeface="Aptos"/>
              </a:defRPr>
            </a:pPr>
            <a:r>
              <a:t>AI-Assisted Ticket Booking Companion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64992"/>
            <a:ext cx="6766560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B1BED2"/>
                </a:solidFill>
                <a:latin typeface="Aptos"/>
              </a:defRPr>
            </a:pPr>
            <a:r>
              <a:t>A user-controlled preparation tool designed to make high-pressure booking steps clearer, faster to navigate, and less error-prone.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715000"/>
            <a:ext cx="594360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Presented by: [Name / Team]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880360"/>
            <a:ext cx="210312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2300" b="1">
                <a:solidFill>
                  <a:srgbClr val="F6F8FC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429000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000" b="1">
                <a:solidFill>
                  <a:srgbClr val="32DAD3"/>
                </a:solidFill>
                <a:latin typeface="Aptos"/>
              </a:defRPr>
            </a:pPr>
            <a:r>
              <a:t>PREPARE • REVIEW •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32DAD3"/>
                </a:solidFill>
                <a:latin typeface="Aptos"/>
              </a:defRPr>
            </a:pPr>
            <a: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700" b="1">
                <a:solidFill>
                  <a:srgbClr val="F6F8FC"/>
                </a:solidFill>
                <a:latin typeface="Aptos"/>
              </a:defRPr>
            </a:pPr>
            <a:r>
              <a:t>Why Tatkal booking can be stressful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658368" cy="45720"/>
          </a:xfrm>
          <a:prstGeom prst="rect">
            <a:avLst/>
          </a:prstGeom>
          <a:solidFill>
            <a:srgbClr val="32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493008" cy="1965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32DAD3"/>
                </a:solidFill>
                <a:latin typeface="Aptos"/>
              </a:defRPr>
            </a:pPr>
            <a:r>
              <a:t>Peak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3127248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Many passengers compete for limited seats at the booking-window opening.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645920"/>
            <a:ext cx="3493008" cy="1965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Time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176272"/>
            <a:ext cx="3127248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Train search, passenger entry, and payment steps can consume valuable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93008" cy="1965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757E"/>
                </a:solidFill>
                <a:latin typeface="Aptos"/>
              </a:defRPr>
            </a:pPr>
            <a:r>
              <a:t>Uncertainty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76272"/>
            <a:ext cx="3127248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Session expiry, payment delays, and unclear status create confusion.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1033272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1">
                <a:solidFill>
                  <a:srgbClr val="32DAD3"/>
                </a:solidFill>
                <a:latin typeface="Aptos"/>
              </a:defRPr>
            </a:pPr>
            <a:r>
              <a:t>Who faces this? Short-notice travelers, students, working professionals, and first-time bookers.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10332720" cy="6858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B1BED2"/>
                </a:solidFill>
                <a:latin typeface="Aptos"/>
              </a:defRPr>
            </a:pPr>
            <a:r>
              <a:t>Problem to solve: reduce avoidable preparation mistakes and explain the official process—without promising a ticket or bypassing platform safeguards.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32DAD3"/>
                </a:solidFill>
                <a:latin typeface="Aptos"/>
              </a:defRPr>
            </a:pPr>
            <a:r>
              <a:t>02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700" b="1">
                <a:solidFill>
                  <a:srgbClr val="F6F8FC"/>
                </a:solidFill>
                <a:latin typeface="Aptos"/>
              </a:defRPr>
            </a:pPr>
            <a:r>
              <a:t>Smart Tatkal: prepare, guide, and clarify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658368" cy="45720"/>
          </a:xfrm>
          <a:prstGeom prst="rect">
            <a:avLst/>
          </a:prstGeom>
          <a:solidFill>
            <a:srgbClr val="32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493008" cy="233172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32DAD3"/>
                </a:solidFill>
                <a:latin typeface="Aptos"/>
              </a:defRPr>
            </a:pPr>
            <a:r>
              <a:t>1. 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3127248" cy="1691639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Save a local checklist of journey details and passenger information. Review it before booking starts.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645920"/>
            <a:ext cx="3493008" cy="233172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2.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176272"/>
            <a:ext cx="3127248" cy="1691639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Countdown, readiness checklist, accessible Hindi/English instructions, and a link to the official booking service.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93008" cy="233172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757E"/>
                </a:solidFill>
                <a:latin typeface="Aptos"/>
              </a:defRPr>
            </a:pPr>
            <a:r>
              <a:t>3.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76272"/>
            <a:ext cx="3127248" cy="1691639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Use clear mock/demo states to explain pending, failed, and confirmed outcomes. User verifies official confirmation.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10424160" cy="6858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1">
                <a:solidFill>
                  <a:srgbClr val="32DAD3"/>
                </a:solidFill>
                <a:latin typeface="Aptos"/>
              </a:defRPr>
            </a:pPr>
            <a:r>
              <a:t>Innovation: local-first privacy + readiness timer + plain-language guidance + transparent booking/payment status.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5780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400" b="0">
                <a:solidFill>
                  <a:srgbClr val="B1BED2"/>
                </a:solidFill>
                <a:latin typeface="Aptos"/>
              </a:defRPr>
            </a:pPr>
            <a:r>
              <a:t>User stays in control of login, CAPTCHA, passenger submission, and payment authorization.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32DAD3"/>
                </a:solidFill>
                <a:latin typeface="Aptos"/>
              </a:defRPr>
            </a:pPr>
            <a:r>
              <a:t>03 /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700" b="1">
                <a:solidFill>
                  <a:srgbClr val="F6F8FC"/>
                </a:solidFill>
                <a:latin typeface="Aptos"/>
              </a:defRPr>
            </a:pPr>
            <a:r>
              <a:t>What the prototype will demonstrate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658368" cy="45720"/>
          </a:xfrm>
          <a:prstGeom prst="rect">
            <a:avLst/>
          </a:prstGeom>
          <a:solidFill>
            <a:srgbClr val="32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578608" cy="201168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32DAD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F8FC"/>
                </a:solidFill>
                <a:latin typeface="Aptos"/>
              </a:defRPr>
            </a:pPr>
            <a:r>
              <a:t>Set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35808"/>
            <a:ext cx="224028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B1BED2"/>
                </a:solidFill>
                <a:latin typeface="Aptos"/>
              </a:defRPr>
            </a:pPr>
            <a:r>
              <a:t>Train, date, class, quota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2852928"/>
            <a:ext cx="265176" cy="0"/>
          </a:xfrm>
          <a:prstGeom prst="line">
            <a:avLst/>
          </a:prstGeom>
          <a:ln w="25400">
            <a:solidFill>
              <a:srgbClr val="32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8728" y="1874519"/>
            <a:ext cx="2578608" cy="201168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057400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32DA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6032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F8FC"/>
                </a:solidFill>
                <a:latin typeface="Aptos"/>
              </a:defRPr>
            </a:pPr>
            <a:r>
              <a:t>Review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35808"/>
            <a:ext cx="224028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B1BED2"/>
                </a:solidFill>
                <a:latin typeface="Aptos"/>
              </a:defRPr>
            </a:pPr>
            <a:r>
              <a:t>Passenger fields and preferences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0" y="2852928"/>
            <a:ext cx="265176" cy="0"/>
          </a:xfrm>
          <a:prstGeom prst="line">
            <a:avLst/>
          </a:prstGeom>
          <a:ln w="25400">
            <a:solidFill>
              <a:srgbClr val="32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19088" y="1874519"/>
            <a:ext cx="2578608" cy="201168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2057400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32DA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56032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F8FC"/>
                </a:solidFill>
                <a:latin typeface="Aptos"/>
              </a:defRPr>
            </a:pPr>
            <a:r>
              <a:t>Open official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035808"/>
            <a:ext cx="224028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B1BED2"/>
                </a:solidFill>
                <a:latin typeface="Aptos"/>
              </a:defRPr>
            </a:pPr>
            <a:r>
              <a:t>User logs in and completes required checks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06840" y="2852928"/>
            <a:ext cx="265176" cy="0"/>
          </a:xfrm>
          <a:prstGeom prst="line">
            <a:avLst/>
          </a:prstGeom>
          <a:ln w="25400">
            <a:solidFill>
              <a:srgbClr val="32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99448" y="1874519"/>
            <a:ext cx="2578608" cy="201168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057400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32DA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56032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F8FC"/>
                </a:solidFill>
                <a:latin typeface="Aptos"/>
              </a:defRPr>
            </a:pPr>
            <a:r>
              <a:t>Confirm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035808"/>
            <a:ext cx="224028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B1BED2"/>
                </a:solidFill>
                <a:latin typeface="Aptos"/>
              </a:defRPr>
            </a:pPr>
            <a:r>
              <a:t>User checks official booking/payment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572000"/>
            <a:ext cx="1033272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Demo scenario: use sample passenger data and simulated status changes; do not connect to live accounts during the hackathon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32DAD3"/>
                </a:solidFill>
                <a:latin typeface="Aptos"/>
              </a:defRPr>
            </a:pPr>
            <a:r>
              <a:t>04 /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700" b="1">
                <a:solidFill>
                  <a:srgbClr val="F6F8FC"/>
                </a:solidFill>
                <a:latin typeface="Aptos"/>
              </a:defRPr>
            </a:pPr>
            <a:r>
              <a:t>Full-stack architecture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658368" cy="45720"/>
          </a:xfrm>
          <a:prstGeom prst="rect">
            <a:avLst/>
          </a:prstGeom>
          <a:solidFill>
            <a:srgbClr val="32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493008" cy="1965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32DAD3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3127248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React / Next.js</a:t>
            </a:r>
            <a:br/>
            <a:r>
              <a:t>Tailwind CSS</a:t>
            </a:r>
            <a:br/>
            <a:r>
              <a:t>Responsive checklist + timer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645920"/>
            <a:ext cx="3493008" cy="1965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Backend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176272"/>
            <a:ext cx="3127248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Node.js + Express</a:t>
            </a:r>
            <a:br/>
            <a:r>
              <a:t>Demo endpoints only</a:t>
            </a:r>
            <a:br/>
            <a:r>
              <a:t>No railway credential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93008" cy="1965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757E"/>
                </a:solidFill>
                <a:latin typeface="Aptos"/>
              </a:defRPr>
            </a:pPr>
            <a:r>
              <a:t>Storage &amp;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76272"/>
            <a:ext cx="3127248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Browser local storage</a:t>
            </a:r>
            <a:br/>
            <a:r>
              <a:t>Mock booking records</a:t>
            </a:r>
            <a:br/>
            <a:r>
              <a:t>Input validation and accessibility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51960"/>
            <a:ext cx="2148840" cy="841248"/>
          </a:xfrm>
          <a:prstGeom prst="roundRect">
            <a:avLst/>
          </a:prstGeom>
          <a:solidFill>
            <a:srgbClr val="122F43"/>
          </a:solidFill>
          <a:ln>
            <a:solidFill>
              <a:srgbClr val="32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370832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1">
                <a:solidFill>
                  <a:srgbClr val="32DAD3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663440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100" b="0">
                <a:solidFill>
                  <a:srgbClr val="F6F8FC"/>
                </a:solidFill>
                <a:latin typeface="Aptos"/>
              </a:defRPr>
            </a:pPr>
            <a:r>
              <a:t>Browser UI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26663" y="4663440"/>
            <a:ext cx="566928" cy="0"/>
          </a:xfrm>
          <a:prstGeom prst="line">
            <a:avLst/>
          </a:prstGeom>
          <a:ln w="19050">
            <a:solidFill>
              <a:srgbClr val="32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0" y="4251960"/>
            <a:ext cx="2148840" cy="841248"/>
          </a:xfrm>
          <a:prstGeom prst="roundRect">
            <a:avLst/>
          </a:prstGeom>
          <a:solidFill>
            <a:srgbClr val="122F43"/>
          </a:solidFill>
          <a:ln>
            <a:solidFill>
              <a:srgbClr val="32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4370832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1">
                <a:solidFill>
                  <a:srgbClr val="32DAD3"/>
                </a:solidFill>
                <a:latin typeface="Aptos"/>
              </a:defRPr>
            </a:pPr>
            <a:r>
              <a:t>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4663440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100" b="0">
                <a:solidFill>
                  <a:srgbClr val="F6F8FC"/>
                </a:solidFill>
                <a:latin typeface="Aptos"/>
              </a:defRPr>
            </a:pPr>
            <a:r>
              <a:t>Checklist logic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15583" y="4663440"/>
            <a:ext cx="566929" cy="0"/>
          </a:xfrm>
          <a:prstGeom prst="line">
            <a:avLst/>
          </a:prstGeom>
          <a:ln w="19050">
            <a:solidFill>
              <a:srgbClr val="32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46520" y="4251960"/>
            <a:ext cx="2148840" cy="841248"/>
          </a:xfrm>
          <a:prstGeom prst="roundRect">
            <a:avLst/>
          </a:prstGeom>
          <a:solidFill>
            <a:srgbClr val="122F43"/>
          </a:solidFill>
          <a:ln>
            <a:solidFill>
              <a:srgbClr val="32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370832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1">
                <a:solidFill>
                  <a:srgbClr val="32DAD3"/>
                </a:solidFill>
                <a:latin typeface="Aptos"/>
              </a:defRPr>
            </a:pPr>
            <a:r>
              <a:t>Demo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663440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100" b="0">
                <a:solidFill>
                  <a:srgbClr val="F6F8FC"/>
                </a:solidFill>
                <a:latin typeface="Aptos"/>
              </a:defRPr>
            </a:pPr>
            <a:r>
              <a:t>Mock states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04504" y="4663440"/>
            <a:ext cx="566928" cy="0"/>
          </a:xfrm>
          <a:prstGeom prst="line">
            <a:avLst/>
          </a:prstGeom>
          <a:ln w="19050">
            <a:solidFill>
              <a:srgbClr val="32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35439" y="4251960"/>
            <a:ext cx="2148840" cy="841248"/>
          </a:xfrm>
          <a:prstGeom prst="roundRect">
            <a:avLst/>
          </a:prstGeom>
          <a:solidFill>
            <a:srgbClr val="122F43"/>
          </a:solidFill>
          <a:ln>
            <a:solidFill>
              <a:srgbClr val="32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1" y="4370832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1">
                <a:solidFill>
                  <a:srgbClr val="32DAD3"/>
                </a:solidFill>
                <a:latin typeface="Aptos"/>
              </a:defRPr>
            </a:pPr>
            <a:r>
              <a:t>Local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1" y="4663440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100" b="0">
                <a:solidFill>
                  <a:srgbClr val="F6F8FC"/>
                </a:solidFill>
                <a:latin typeface="Aptos"/>
              </a:defRPr>
            </a:pPr>
            <a:r>
              <a:t>Preferences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4864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B1BED2"/>
                </a:solidFill>
                <a:latin typeface="Aptos"/>
              </a:defRPr>
            </a:pPr>
            <a:r>
              <a:t>AI is optional in the MVP: use it only for help text or checklist explanations, not CAPTCHA or booking automation.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32DAD3"/>
                </a:solidFill>
                <a:latin typeface="Aptos"/>
              </a:defRPr>
            </a:pPr>
            <a:r>
              <a:t>05 / 24-HOUR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700" b="1">
                <a:solidFill>
                  <a:srgbClr val="F6F8FC"/>
                </a:solidFill>
                <a:latin typeface="Aptos"/>
              </a:defRPr>
            </a:pPr>
            <a:r>
              <a:t>MVP scope and team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658368" cy="45720"/>
          </a:xfrm>
          <a:prstGeom prst="rect">
            <a:avLst/>
          </a:prstGeom>
          <a:solidFill>
            <a:srgbClr val="32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303520" cy="3108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4937759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32DAD3"/>
                </a:solidFill>
                <a:latin typeface="Aptos"/>
              </a:defRPr>
            </a:pPr>
            <a:r>
              <a:t>MVP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4937759" cy="2468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• Journey and passenger checklist</a:t>
            </a:r>
            <a:br/>
            <a:r>
              <a:t>• Booking-window countdown</a:t>
            </a:r>
            <a:br/>
            <a:r>
              <a:t>• Official-site launch link</a:t>
            </a:r>
            <a:br/>
            <a:r>
              <a:t>• Mock booking/payment status tracker</a:t>
            </a:r>
            <a:br/>
            <a:r>
              <a:t>• Responsive UI and basic accessibility</a:t>
            </a:r>
            <a:br/>
            <a:r>
              <a:t>• Privacy note and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45920"/>
            <a:ext cx="5303520" cy="3108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792224"/>
            <a:ext cx="4937759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Team split (2–3 people)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76272"/>
            <a:ext cx="4937759" cy="2468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F6F8FC"/>
                </a:solidFill>
                <a:latin typeface="Aptos"/>
              </a:defRPr>
            </a:pPr>
            <a:r>
              <a:t>Member A: UI pages and responsive styling</a:t>
            </a:r>
            <a:br/>
            <a:r>
              <a:t>Member B: data model, checklist logic, demo states</a:t>
            </a:r>
            <a:br/>
            <a:r>
              <a:t>Member C: testing, integration, slides, and demo script</a:t>
            </a:r>
            <a:br/>
            <a:br/>
            <a:r>
              <a:t>Suggested cadence: plan 0–2h; build 2–14h; integrate 14–19h; test/deploy 19–22h; rehearse 22–24h.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12080"/>
            <a:ext cx="10424160" cy="502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400" b="1">
                <a:solidFill>
                  <a:srgbClr val="32DAD3"/>
                </a:solidFill>
                <a:latin typeface="Aptos"/>
              </a:defRPr>
            </a:pPr>
            <a:r>
              <a:t>Success measures: checklist completion time, missing-field errors in test tasks, and user understanding of status messages.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32DAD3"/>
                </a:solidFill>
                <a:latin typeface="Aptos"/>
              </a:defRPr>
            </a:pPr>
            <a:r>
              <a:t>06 / RESPONSIBLE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700" b="1">
                <a:solidFill>
                  <a:srgbClr val="F6F8FC"/>
                </a:solidFill>
                <a:latin typeface="Aptos"/>
              </a:defRPr>
            </a:pPr>
            <a:r>
              <a:t>Privacy, compliance, and honest claims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658368" cy="45720"/>
          </a:xfrm>
          <a:prstGeom prst="rect">
            <a:avLst/>
          </a:prstGeom>
          <a:solidFill>
            <a:srgbClr val="32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303520" cy="228600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4937759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32DAD3"/>
                </a:solidFill>
                <a:latin typeface="Aptos"/>
              </a:defRPr>
            </a:pPr>
            <a:r>
              <a:t>User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4937759" cy="1645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No automated login, CAPTCHA solving, queue manipulation, or unattended purchase. User reviews and submits each official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45920"/>
            <a:ext cx="5303520" cy="228600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792224"/>
            <a:ext cx="4937759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Privacy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76272"/>
            <a:ext cx="4937759" cy="1645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Keep demo preferences local. Do not collect passwords, OTPs, payment credentials, or unnecessary personal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10332720" cy="7315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F6F8FC"/>
                </a:solidFill>
                <a:latin typeface="Aptos"/>
              </a:defRPr>
            </a:pPr>
            <a:r>
              <a:t>Use mock data in the hackathon. Check current IRCTC terms and applicable payment requirements before proposing any real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03520"/>
            <a:ext cx="1024128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1">
                <a:solidFill>
                  <a:srgbClr val="F6757E"/>
                </a:solidFill>
                <a:latin typeface="Aptos"/>
              </a:defRPr>
            </a:pPr>
            <a:r>
              <a:t>Do not claim a specific booking success uplift or speed improvement unless measured and independently validated.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07040" cy="2743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32DAD3"/>
                </a:solidFill>
                <a:latin typeface="Aptos"/>
              </a:defRPr>
            </a:pPr>
            <a:r>
              <a:t>07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424160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900" b="1">
                <a:solidFill>
                  <a:srgbClr val="F6F8FC"/>
                </a:solidFill>
                <a:latin typeface="Aptos"/>
              </a:defRPr>
            </a:pPr>
            <a:r>
              <a:t>Less confusion. Better preparation.</a:t>
            </a:r>
            <a:br/>
            <a:r>
              <a:t>Booking stays in the user's hands.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5120640" cy="155448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89504"/>
            <a:ext cx="4754879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32DAD3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73552"/>
            <a:ext cx="4754879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Build the checklist → test the flow → deploy the prototype → gather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743200"/>
            <a:ext cx="5120640" cy="155448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889504"/>
            <a:ext cx="4754879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3273552"/>
            <a:ext cx="4754879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Multilingual guidance, accessibility refinements, and only officially permitted integrations.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900" b="1">
                <a:solidFill>
                  <a:srgbClr val="32DAD3"/>
                </a:solidFill>
                <a:latin typeface="Aptos"/>
              </a:defRPr>
            </a:pPr>
            <a:r>
              <a:t>Thank you • Questions &amp;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B1BED2"/>
                </a:solidFill>
                <a:latin typeface="Aptos"/>
              </a:defRPr>
            </a:pPr>
            <a:r>
              <a:t>Presenter cue: explain the problem in 20 sec, walk through the demo in 60 sec, then cover stack, safeguards, and next steps.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